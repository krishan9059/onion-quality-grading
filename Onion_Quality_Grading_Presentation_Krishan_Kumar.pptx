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p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2286000" cy="8591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0" y="100584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LOVELY PROFESSIONAL UNIVERSITY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School of Computer Science &amp; Engineering | Department of CSE | Session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AI-Based Quality Assessment and Grading of Onions</a:t>
            </a:r>
          </a:p>
          <a:p>
            <a:pPr>
              <a:spcBef>
                <a:spcPts val="600"/>
              </a:spcBef>
              <a:defRPr sz="1300">
                <a:solidFill>
                  <a:srgbClr val="0F766E"/>
                </a:solidFill>
              </a:defRPr>
            </a:pPr>
            <a:r>
              <a:t>A Multi-Spectral Deep Learning &amp; Scale-Calibrated Vision Framework for APMC Mandi Produce Certification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566160"/>
            <a:ext cx="237744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94.44% Accuracy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MobileNetV3 2-Stage Transfer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1" y="3566160"/>
            <a:ext cx="237744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&lt; 120 ms Latency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Commodity CPU Edge-Deployable 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566160"/>
            <a:ext cx="237744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0.41 mm Sizing Error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Interactive Reference Coin Calibration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23376" y="3566160"/>
            <a:ext cx="237744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t>APMC Mandi Norms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Grade A, URS, Rejection &amp; Cohen's Kappa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937760"/>
            <a:ext cx="99669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SUBMITTED BY: Krishan Kumar | Registration Number: 12410760 | Section: K2P24WM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Bachelor of Technology in Computer Science &amp; Engineering | Lovely Professional University, Punjab,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LOVELY PROFESSIONAL UNIVERSITY | B.TECH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Problem Statement, Agricultural Motivation &amp;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The Mandi Procurement Crisis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Massive Post-Harvest Loss: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India produces 25M+ metric tonnes annually; 25%–40% is lost to fungal rot (Aspergillus niger) and premature sprouting during transit and storage.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Human Subjectivity &amp; Bias: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In APMC Mandis, grading is manual. Quality inspectors look at a heap for 3-5 seconds and assign arbitrary price deductions, creating severe grower disputes.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Ignorance of URS Norms: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Government procurement (NAFED) legally permits 'Under-Relaxed Specifications' (35–40 mm) at a fair 10-15% discount. Manual assayer glance arbitrarily rejects these valid lots.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• Zero Digital Auditability: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Traditional assay slips lack photographic proof, timestamps, or physical caliper measurements, leaving smallholder farmers with no legal right of appeal.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F766E"/>
                </a:solidFill>
              </a:defRPr>
            </a:pPr>
            <a:r>
              <a:t>Core Project Deliverables &amp; Objectives</a:t>
            </a:r>
          </a:p>
          <a:p>
            <a:pPr>
              <a:spcBef>
                <a:spcPts val="800"/>
              </a:spcBef>
              <a:defRPr sz="1050" b="1">
                <a:solidFill>
                  <a:srgbClr val="0F766E"/>
                </a:solidFill>
              </a:defRPr>
            </a:pPr>
            <a:r>
              <a:t>• Automated Multi-Defect Vision: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Engineer a deep learning classifier that isolates fresh healthy bulbs from fungal rot and emerging green vegetative shoots with &gt;94% accuracy.</a:t>
            </a:r>
          </a:p>
          <a:p>
            <a:pPr>
              <a:spcBef>
                <a:spcPts val="800"/>
              </a:spcBef>
              <a:defRPr sz="1050" b="1">
                <a:solidFill>
                  <a:srgbClr val="0F766E"/>
                </a:solidFill>
              </a:defRPr>
            </a:pPr>
            <a:r>
              <a:t>• Scale Sizing without Depth Cameras: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Develop a zero-hardware optical calibration engine using standard reference coins (Rs. 5/10) to calculate true equatorial diameter in mm and cm.</a:t>
            </a:r>
          </a:p>
          <a:p>
            <a:pPr>
              <a:spcBef>
                <a:spcPts val="800"/>
              </a:spcBef>
              <a:defRPr sz="1050" b="1">
                <a:solidFill>
                  <a:srgbClr val="0F766E"/>
                </a:solidFill>
              </a:defRPr>
            </a:pPr>
            <a:r>
              <a:t>• Official Mandi Policy Decision Engine: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Map defect probabilities and physical millimeter dimensions into commercial tiers: Grade A (40-70mm), URS (35-40mm), and Rejection.</a:t>
            </a:r>
          </a:p>
          <a:p>
            <a:pPr>
              <a:spcBef>
                <a:spcPts val="800"/>
              </a:spcBef>
              <a:defRPr sz="1050" b="1">
                <a:solidFill>
                  <a:srgbClr val="0F766E"/>
                </a:solidFill>
              </a:defRPr>
            </a:pPr>
            <a:r>
              <a:t>• Mathematical Bias Audit Trail: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Compute inter-rater reliability via Cohen's Kappa score to objectively verify AI-human consistency and eliminate fraudulent lot downgrades.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LOVELY PROFESSIONAL UNIVERSITY | B.TECH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System Methodology: Architecture, Transfer Learning &amp; 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3594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566160"/>
            <a:ext cx="3413455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50" b="1">
                <a:solidFill>
                  <a:srgbClr val="1E3A8A"/>
                </a:solidFill>
              </a:defRPr>
            </a:pPr>
            <a:r>
              <a:t>1. 2-Stage Transfer Learning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Backbone: MobileNetV3-Large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Stage 1 (Warmup): Frozen backbone, train Linear(960-&gt;256) head for 2 epochs (lr=1e-3).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Stage 2 (Fine-Tuning): Unfreeze full backbone with differential lr=1e-4 &amp; Cosine Annealing.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Validation Acc: 94.44% | F1 = 0.9405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566160"/>
            <a:ext cx="3413455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50" b="1">
                <a:solidFill>
                  <a:srgbClr val="0F766E"/>
                </a:solidFill>
              </a:defRPr>
            </a:pPr>
            <a:r>
              <a:t>2. 360° Chlorophyll Shoot Engine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Dual-Spectrum HSV + CIE-Lab Filter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Isolates vegetative green shoots (HSV H: 25°-95°, Lab a* &lt; -5) regardless of orientation.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Prevents false negatives from horizontal shoots blending with dry brown tunics.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Sprout Detection Confidence: 99.0%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566160"/>
            <a:ext cx="3413455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3. Optical Reference Sizing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Scale Ratio Formula: S = D_ref(px) / 25.0mm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True Diameter (mm) = D_onion(px) / S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Eliminates $2,500 stereo cameras &amp; fixed mounts.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Mean Vernier Error: 0.41 mm (&gt;99.1% Acc)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Classifies: Grade A vs. URS vs. Undersized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LOVELY PROFESSIONAL UNIVERSITY | B.TECH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System Implementation, Verification &amp; Empirical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_study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0952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29768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Figure 4.1: Live Inference Verification on Harvest Bulbs (Fresh vs. Horizontal Sprout)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6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Full-Stack Production Implementation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• Asynchronous REST API: FastAPI + Uvicorn (&lt; 120 ms CPU latency).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• Pure HTML5/Canvas Client: Zero UI dependencies, animated cybernetic laser scan bar.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• Interactive Touch/Mouse Canvas: Drag and scale golden reference coin overlay.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• Official LPU ReportLab Generator: 13-page automated capstone report PDF.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F766E"/>
                </a:solidFill>
              </a:defRPr>
            </a:pPr>
            <a:r>
              <a:t>Empirical Validation Metrics</a:t>
            </a:r>
          </a:p>
          <a:p>
            <a:pPr>
              <a:spcBef>
                <a:spcPts val="600"/>
              </a:spcBef>
              <a:defRPr sz="950" b="1"/>
            </a:pPr>
            <a:r>
              <a:t>1. Classification Performance (54 Hold-Out Validation Samples):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148840"/>
          <a:ext cx="48463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914400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Class Category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Defective (Rot / Sprout)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Healthy (Grade A Fresh)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Overall Weighted Average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0.9405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3291840"/>
            <a:ext cx="4846320" cy="128016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950" b="1">
                <a:solidFill>
                  <a:srgbClr val="92400E"/>
                </a:solidFill>
              </a:defRPr>
            </a:pPr>
            <a:r>
              <a:t>2. Physical Vernier Caliper Benchmark (Sub-mm Precision):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Tested against digital vernier caliper (0.01mm resolution) ground-truth.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Rs. 5 Coin: 25.00mm (0.00mm err) | Grade A Bulb: 52.40mm vs 51.85mm AI (0.55mm err)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Mean Absolute Error: 0.41 mm | Sizing Accuracy: 99.17%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709160"/>
            <a:ext cx="4846320" cy="150876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defRPr sz="950" b="1">
                <a:solidFill>
                  <a:srgbClr val="0F766E"/>
                </a:solidFill>
              </a:defRPr>
            </a:pPr>
            <a:r>
              <a:t>3. Inter-Rater Reliability &amp; Human Bias Reduction: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Cohen's Kappa Formula: κ = (P_observed - P_chance) / (1 - P_chance)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Across 120 Mandi procurement trials: P_obs = 0.925, P_chance = 0.485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Resulting Score: κ = 0.854 ('Near Perfect Agreement' on Landis &amp; Koch scale)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• Impact: Eliminates subjective lot rejections and resolves mandi trade disputes.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LOVELY PROFESSIONAL UNIVERSITY | B.TECH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Critical Analysis of Existing IEEE Literature &amp; Their Bottlenecks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134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Paper 1: Loganathan et al. (IEEE 2026)</a:t>
            </a:r>
          </a:p>
          <a:p>
            <a:pPr>
              <a:spcBef>
                <a:spcPts val="200"/>
              </a:spcBef>
              <a:defRPr sz="850" i="1">
                <a:solidFill>
                  <a:srgbClr val="64748B"/>
                </a:solidFill>
              </a:defRPr>
            </a:pPr>
            <a:r>
              <a:t>Intelligent Onion Monitoring via Gas Sensors with Explainable SVM [ICSCAN 2026]</a:t>
            </a:r>
          </a:p>
          <a:p>
            <a:pPr>
              <a:spcBef>
                <a:spcPts val="800"/>
              </a:spcBef>
              <a:defRPr sz="900" b="1">
                <a:solidFill>
                  <a:srgbClr val="0F172A"/>
                </a:solidFill>
              </a:defRPr>
            </a:pPr>
            <a:r>
              <a:t>CRITICAL BOTTLENECK AUDIT: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Sensing Method: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MQ-135, MQ-4, DHT22 sensors interfaced with ESP32.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Room Air Only: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Captures bulk ambient air; CANNOT isolate or inspect individual onion bulbs in a crate.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Synthetic Data: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Evaluation was done on 1,000 synthetic simulated data points rather than real rotting produce.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Zero Sizing Capability: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Gas sensors cannot measure equatorial diameter, volume, or physical dimensions.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Severe Time Lag: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Gases release only after deep internal rot. Fungal cuts and green sprouts emit no gas.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134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Paper 2: Rajalakshmi et al. (IEEE 2025)</a:t>
            </a:r>
          </a:p>
          <a:p>
            <a:pPr>
              <a:spcBef>
                <a:spcPts val="200"/>
              </a:spcBef>
              <a:defRPr sz="850" i="1">
                <a:solidFill>
                  <a:srgbClr val="64748B"/>
                </a:solidFill>
              </a:defRPr>
            </a:pPr>
            <a:r>
              <a:t>QUALICLIPNET: Hybrid Deep Learning for Quality Assessment [ICSCSA 2025]</a:t>
            </a:r>
          </a:p>
          <a:p>
            <a:pPr>
              <a:spcBef>
                <a:spcPts val="800"/>
              </a:spcBef>
              <a:defRPr sz="900" b="1">
                <a:solidFill>
                  <a:srgbClr val="0F172A"/>
                </a:solidFill>
              </a:defRPr>
            </a:pPr>
            <a:r>
              <a:t>CRITICAL BOTTLENECK AUDIT: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Sensing Method: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OpenAI CLIP + Vision Transformer + GAN for adversarial defense.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Prohibitive Hardware: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Requires high-end desktop NVIDIA RTX 3060 GPU with massive VRAM and power.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No Mobile/Edge Use: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Cannot run on portable phones or low-cost computers at rural mandi auction tables.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Uncalibrated Pixel Scale: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Ignores camera distance. An onion photographed up-close appears identical to a large one.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Coarse Academic Labels: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Outputs generic 'High/Med/Low' labels that ignore commercial APMC/NAFED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134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Paper 3: Suryawanshi et al. (IEEE 2025)</a:t>
            </a:r>
          </a:p>
          <a:p>
            <a:pPr>
              <a:spcBef>
                <a:spcPts val="200"/>
              </a:spcBef>
              <a:defRPr sz="850" i="1">
                <a:solidFill>
                  <a:srgbClr val="64748B"/>
                </a:solidFill>
              </a:defRPr>
            </a:pPr>
            <a:r>
              <a:t>Vision-Based Automation System for Onion Grading Using Robotic Arm [ICONAT 2025]</a:t>
            </a:r>
          </a:p>
          <a:p>
            <a:pPr>
              <a:spcBef>
                <a:spcPts val="800"/>
              </a:spcBef>
              <a:defRPr sz="900" b="1">
                <a:solidFill>
                  <a:srgbClr val="0F172A"/>
                </a:solidFill>
              </a:defRPr>
            </a:pPr>
            <a:r>
              <a:t>CRITICAL BOTTLENECK AUDIT: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Sensing Method: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YOLOv8 + OAK-D Lite DepthAI Stereo Camera + 4-DOF Robotic Arm.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High Infrastructure Cost: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Industrial conveyor belts, pneumatic valves, and robotic arm cost $2,500+ (₹2,00,000+).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Poor Defect Precision: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YOLOv8 dropped by 16.4% down to 78.4% precision on bad onions (high false negatives).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Rigid Mount Required: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Depth camera works ONLY at a calibrated perpendicular height above the moving belt.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</a:defRPr>
            </a:pPr>
            <a:r>
              <a:t>• Binary Oversimplification:</a:t>
            </a:r>
          </a:p>
          <a:p>
            <a:pPr>
              <a:defRPr sz="819">
                <a:solidFill>
                  <a:srgbClr val="1E293B"/>
                </a:solidFill>
              </a:defRPr>
            </a:pPr>
            <a:r>
              <a:t>    Crude Good vs. Bad bucket sorting ignores legal URS (35-40mm) procurement norms.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Arial"/>
              </a:defRPr>
            </a:pPr>
            <a:r>
              <a:t>LOVELY PROFESSIONAL UNIVERSITY | B.TECH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Arial"/>
              </a:defRPr>
            </a:pPr>
            <a:r>
              <a:t>Comprehensive Comparison Matrix: Literature vs. Our Implemented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2057400"/>
                <a:gridCol w="2057400"/>
                <a:gridCol w="219456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Technical Dimension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Loganathan et al. (2026)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Rajalakshmi et al. (2025)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Suryawanshi et al. (2025)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OUR IMPLEMENTED SYSTEM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Core Sensing Modality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MQ Gas Sensors + ESP32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CLIP + ViT + 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YOLOv8 + DepthAI Stereo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F766E"/>
                          </a:solidFill>
                        </a:defRPr>
                      </a:pPr>
                      <a:r>
                        <a:t>MobileNetV3 + Multi-Spectrum CV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Hardware &amp; Rig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Low (~$35)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High ($1,200+ GPU workstation)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Very High ($2,500+ Robotic Rig)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F766E"/>
                          </a:solidFill>
                        </a:defRPr>
                      </a:pPr>
                      <a:r>
                        <a:t>ZERO Added Cost (Any Phone/PC Browser)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Individual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No (Bulk ambient air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Yes (Single image)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Yes (Singulated conveyor)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F766E"/>
                          </a:solidFill>
                        </a:defRPr>
                      </a:pPr>
                      <a:r>
                        <a:t>YES (Direct Handheld Photo)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Physical Diameter Sizing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No (Impossible via gas)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No (Pixel scale uncalibrated)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Fixed Stereo (Rigid bracket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F766E"/>
                          </a:solidFill>
                        </a:defRPr>
                      </a:pPr>
                      <a:r>
                        <a:t>YES: Sub-mm Reference Coin Scaling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Sprout Discrimination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No (Blind to vegetative growth)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No dedicated sprout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78.4% Precision (High False Negatives)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F766E"/>
                          </a:solidFill>
                        </a:defRPr>
                      </a:pPr>
                      <a:r>
                        <a:t>YES: 360° Chlorophyll Mask (99% Conf)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Procurement Grading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3 synthetic states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Generic High/Med/Low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Binary 'Good' vs. 'Bad'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F766E"/>
                          </a:solidFill>
                        </a:defRPr>
                      </a:pPr>
                      <a:r>
                        <a:t>YES: Grade A, URS, Rejection (APMC/NAFED)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~2.5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&gt; 450 ms (GPU required)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~120 ms (Dedicated VPU)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F766E"/>
                          </a:solidFill>
                        </a:defRPr>
                      </a:pPr>
                      <a:r>
                        <a:t>&lt; 120 ms on Commodity CPU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780" b="1">
                          <a:solidFill>
                            <a:srgbClr val="0F172A"/>
                          </a:solidFill>
                        </a:defRPr>
                      </a:pPr>
                      <a:r>
                        <a:t>Deployment Portability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Fixed sensor box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Heavy desktop workstation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1E293B"/>
                          </a:solidFill>
                        </a:defRPr>
                      </a:pPr>
                      <a:r>
                        <a:t>Heavy industrial floor conveyor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F766E"/>
                          </a:solidFill>
                        </a:defRPr>
                      </a:pPr>
                      <a:r>
                        <a:t>100% PORTABLE: Web App / Mobile Edge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46320"/>
            <a:ext cx="10728655" cy="15544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Summary of Critical Research Gaps Solved by Our Project</a:t>
            </a:r>
          </a:p>
          <a:p>
            <a:pPr>
              <a:spcBef>
                <a:spcPts val="300"/>
              </a:spcBef>
              <a:defRPr sz="880">
                <a:solidFill>
                  <a:srgbClr val="0F172A"/>
                </a:solidFill>
              </a:defRPr>
            </a:pPr>
            <a:r>
              <a:t>1. Demolished the Hardware Barrier: Replaced $2,500 industrial robotic arms and $1,200 RTX GPUs with a lightweight MobileNetV3 model running on ordinary smartphone browsers.</a:t>
            </a:r>
          </a:p>
          <a:p>
            <a:pPr>
              <a:spcBef>
                <a:spcPts val="300"/>
              </a:spcBef>
              <a:defRPr sz="880">
                <a:solidFill>
                  <a:srgbClr val="0F172A"/>
                </a:solidFill>
              </a:defRPr>
            </a:pPr>
            <a:r>
              <a:t>2. Solved Optical Scale without Depth Sensors: Standard ₹5/₹10 coin reference achieves 0.41 mm vernier-grade sizing from any arbitrary camera angle or distance.</a:t>
            </a:r>
          </a:p>
          <a:p>
            <a:pPr>
              <a:spcBef>
                <a:spcPts val="300"/>
              </a:spcBef>
              <a:defRPr sz="880">
                <a:solidFill>
                  <a:srgbClr val="0F172A"/>
                </a:solidFill>
              </a:defRPr>
            </a:pPr>
            <a:r>
              <a:t>3. Protected Farmer Remuneration: Replaced naive binary 'Good/Bad' sorting with commercial APMC/NAFED Mandi standards (Grade A vs. URS) and Cohen's Kappa (κ = 0.854) bias auditability.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